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7fcf7c880447d6" /><Relationship Type="http://schemas.openxmlformats.org/officeDocument/2006/relationships/extended-properties" Target="/docProps/app.xml" Id="R1d9f7999062c4724" /><Relationship Type="http://schemas.openxmlformats.org/officeDocument/2006/relationships/officeDocument" Target="/ppt/presentation.xml" Id="R24d25c0cfc654b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fdce157ded4e71"/>
  </p:sldMasterIdLst>
  <p:notesMasterIdLst>
    <p:notesMasterId xmlns:r="http://schemas.openxmlformats.org/officeDocument/2006/relationships" r:id="R34196316839b4546"/>
  </p:notesMasterIdLst>
  <p:sldIdLst>
    <p:sldId xmlns:r="http://schemas.openxmlformats.org/officeDocument/2006/relationships" id="256" r:id="R463d916c8d7c46bc"/>
    <p:sldId xmlns:r="http://schemas.openxmlformats.org/officeDocument/2006/relationships" id="257" r:id="R64881bae7f4d4ef4"/>
    <p:sldId xmlns:r="http://schemas.openxmlformats.org/officeDocument/2006/relationships" id="258" r:id="Rd43c31443b324c7c"/>
    <p:sldId xmlns:r="http://schemas.openxmlformats.org/officeDocument/2006/relationships" id="259" r:id="R61c6e1526e794533"/>
    <p:sldId xmlns:r="http://schemas.openxmlformats.org/officeDocument/2006/relationships" id="260" r:id="Rfe780d591d0a41bc"/>
    <p:sldId xmlns:r="http://schemas.openxmlformats.org/officeDocument/2006/relationships" id="261" r:id="R27c7178d78494ea7"/>
    <p:sldId xmlns:r="http://schemas.openxmlformats.org/officeDocument/2006/relationships" id="262" r:id="R524ed9331f724fc2"/>
    <p:sldId xmlns:r="http://schemas.openxmlformats.org/officeDocument/2006/relationships" id="263" r:id="R95a2800d0f124b3b"/>
    <p:sldId xmlns:r="http://schemas.openxmlformats.org/officeDocument/2006/relationships" id="264" r:id="Rea68adb6811544d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cce75ae0624f94" /><Relationship Type="http://schemas.openxmlformats.org/officeDocument/2006/relationships/slideMaster" Target="/ppt/slideMasters/slideMaster1.xml" Id="Rccfdce157ded4e71" /><Relationship Type="http://schemas.openxmlformats.org/officeDocument/2006/relationships/notesMaster" Target="/ppt/notesMasters/notesMaster1.xml" Id="R34196316839b4546" /><Relationship Type="http://schemas.openxmlformats.org/officeDocument/2006/relationships/presProps" Target="/ppt/presProps.xml" Id="Rc11bf37f401f4716" /><Relationship Type="http://schemas.openxmlformats.org/officeDocument/2006/relationships/viewProps" Target="/ppt/viewProps.xml" Id="R8052950372e44732" /><Relationship Type="http://schemas.openxmlformats.org/officeDocument/2006/relationships/tableStyles" Target="/ppt/tableStyles.xml" Id="R5aa2f93ecbb44920" /><Relationship Type="http://schemas.openxmlformats.org/officeDocument/2006/relationships/slide" Target="/ppt/slides/slide1.xml" Id="R463d916c8d7c46bc" /><Relationship Type="http://schemas.openxmlformats.org/officeDocument/2006/relationships/slide" Target="/ppt/slides/slide2.xml" Id="R64881bae7f4d4ef4" /><Relationship Type="http://schemas.openxmlformats.org/officeDocument/2006/relationships/slide" Target="/ppt/slides/slide3.xml" Id="Rd43c31443b324c7c" /><Relationship Type="http://schemas.openxmlformats.org/officeDocument/2006/relationships/slide" Target="/ppt/slides/slide4.xml" Id="R61c6e1526e794533" /><Relationship Type="http://schemas.openxmlformats.org/officeDocument/2006/relationships/slide" Target="/ppt/slides/slide5.xml" Id="Rfe780d591d0a41bc" /><Relationship Type="http://schemas.openxmlformats.org/officeDocument/2006/relationships/slide" Target="/ppt/slides/slide6.xml" Id="R27c7178d78494ea7" /><Relationship Type="http://schemas.openxmlformats.org/officeDocument/2006/relationships/slide" Target="/ppt/slides/slide7.xml" Id="R524ed9331f724fc2" /><Relationship Type="http://schemas.openxmlformats.org/officeDocument/2006/relationships/slide" Target="/ppt/slides/slide8.xml" Id="R95a2800d0f124b3b" /><Relationship Type="http://schemas.openxmlformats.org/officeDocument/2006/relationships/slide" Target="/ppt/slides/slide9.xml" Id="Rea68adb6811544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dd32a6296644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302910fb364b7b" /><Relationship Type="http://schemas.openxmlformats.org/officeDocument/2006/relationships/notesMaster" Target="/ppt/notesMasters/notesMaster1.xml" Id="R4b105d725ee74a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e55c93b1824520" /><Relationship Type="http://schemas.openxmlformats.org/officeDocument/2006/relationships/notesMaster" Target="/ppt/notesMasters/notesMaster1.xml" Id="Ra1103a3050994a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cfb8855b4e462b" /><Relationship Type="http://schemas.openxmlformats.org/officeDocument/2006/relationships/notesMaster" Target="/ppt/notesMasters/notesMaster1.xml" Id="R6217d247945249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0eff086c1e4df0" /><Relationship Type="http://schemas.openxmlformats.org/officeDocument/2006/relationships/notesMaster" Target="/ppt/notesMasters/notesMaster1.xml" Id="Rd87890b768544b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65bb9e49d9459a" /><Relationship Type="http://schemas.openxmlformats.org/officeDocument/2006/relationships/notesMaster" Target="/ppt/notesMasters/notesMaster1.xml" Id="Rdc16a269dd7642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0304ab1dfd41a5" /><Relationship Type="http://schemas.openxmlformats.org/officeDocument/2006/relationships/notesMaster" Target="/ppt/notesMasters/notesMaster1.xml" Id="Rbcae821869bb43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e72e5487f94eb1" /><Relationship Type="http://schemas.openxmlformats.org/officeDocument/2006/relationships/notesMaster" Target="/ppt/notesMasters/notesMaster1.xml" Id="R04c5fc12814c46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2444282b194e3a" /><Relationship Type="http://schemas.openxmlformats.org/officeDocument/2006/relationships/notesMaster" Target="/ppt/notesMasters/notesMaster1.xml" Id="R2059a9d6ee374e0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8521628100480b" /><Relationship Type="http://schemas.openxmlformats.org/officeDocument/2006/relationships/notesMaster" Target="/ppt/notesMasters/notesMaster1.xml" Id="R40ccbaa4a2be4d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980bfaa18142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30958cd11d4a22" /><Relationship Type="http://schemas.openxmlformats.org/officeDocument/2006/relationships/slideLayout" Target="/ppt/slideLayouts/slideLayout1.xml" Id="Rad75469b835446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75469b835446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60b278539d4cfb" /><Relationship Type="http://schemas.openxmlformats.org/officeDocument/2006/relationships/notesSlide" Target="/ppt/notesSlides/notesSlide1.xml" Id="R54227de88d084a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c9fea626e45d8" /><Relationship Type="http://schemas.openxmlformats.org/officeDocument/2006/relationships/notesSlide" Target="/ppt/notesSlides/notesSlide2.xml" Id="R175668f49b0248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6880665fa45cd" /><Relationship Type="http://schemas.openxmlformats.org/officeDocument/2006/relationships/image" Target="/ppt/media/image.png" Id="R9712d2ab51bf4d5a" /><Relationship Type="http://schemas.openxmlformats.org/officeDocument/2006/relationships/notesSlide" Target="/ppt/notesSlides/notesSlide3.xml" Id="R417c4e665d3147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9ed7f2dae4aee" /><Relationship Type="http://schemas.openxmlformats.org/officeDocument/2006/relationships/image" Target="/ppt/media/image2.png" Id="R648efa65b46e482f" /><Relationship Type="http://schemas.openxmlformats.org/officeDocument/2006/relationships/notesSlide" Target="/ppt/notesSlides/notesSlide4.xml" Id="Rb7588759267e44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5ebfc6c6b4a64" /><Relationship Type="http://schemas.openxmlformats.org/officeDocument/2006/relationships/notesSlide" Target="/ppt/notesSlides/notesSlide5.xml" Id="R65650c3ff7824a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98992e2df45ac" /><Relationship Type="http://schemas.openxmlformats.org/officeDocument/2006/relationships/image" Target="/ppt/media/image3.png" Id="R3286c82f1bde4ce4" /><Relationship Type="http://schemas.openxmlformats.org/officeDocument/2006/relationships/image" Target="/ppt/media/image4.png" Id="R3750b6e0874d481d" /><Relationship Type="http://schemas.openxmlformats.org/officeDocument/2006/relationships/notesSlide" Target="/ppt/notesSlides/notesSlide6.xml" Id="Rd8b8168424874a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af1d48e5144948" /><Relationship Type="http://schemas.openxmlformats.org/officeDocument/2006/relationships/image" Target="/ppt/media/image5.png" Id="R97ab581a0a774b90" /><Relationship Type="http://schemas.openxmlformats.org/officeDocument/2006/relationships/notesSlide" Target="/ppt/notesSlides/notesSlide7.xml" Id="Rbc5a975011de45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5d4cec5c94d81" /><Relationship Type="http://schemas.openxmlformats.org/officeDocument/2006/relationships/notesSlide" Target="/ppt/notesSlides/notesSlide8.xml" Id="Rd2948cf582ef4b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4ca399da2148d4" /><Relationship Type="http://schemas.openxmlformats.org/officeDocument/2006/relationships/notesSlide" Target="/ppt/notesSlides/notesSlide9.xml" Id="Rd0fa6291330147b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5BA0D9-828E-4D00-BE29-E7B9531D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AC5306-1C2B-4937-B23D-F74DC993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A72C7F-FEC7-44F6-8DA1-8B27791E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DB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DB827"/>
                </a:solidFill>
                <a:latin typeface="Arial"/>
                <a:ea typeface="Arial"/>
                <a:cs typeface="Arial"/>
              </a:rPr>
              <a:t>ACC TRACKMAN DATA / OFFENSIVE MODELING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FE4A70-746F-47D7-ABBD-E2145968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4F1EA"/>
                </a:solidFill>
                <a:latin typeface="Arial"/>
                <a:ea typeface="Arial"/>
                <a:cs typeface="Arial"/>
              </a:rPr>
              <a:t>What Drives Offensive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5DA36-A032-48C3-9C64-27F3973A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4F1EA"/>
                </a:solidFill>
                <a:latin typeface="Arial"/>
                <a:ea typeface="Arial"/>
                <a:cs typeface="Arial"/>
              </a:rPr>
              <a:t>Success in Baseball?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4550F1-5E1A-4B6B-8210-C8AE595E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9A6A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6A0"/>
                </a:solidFill>
                <a:latin typeface="Arial"/>
                <a:ea typeface="Arial"/>
                <a:cs typeface="Arial"/>
              </a:rPr>
              <a:t>Using ACC TrackMan Data to Model Expected Offensive Production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75A877-824C-404B-9E9C-8601BD46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EA3FA-F71F-4FD3-B2CF-DB2849D9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339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31C444-C050-40D3-8042-ECDA1A10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A6A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A6A0"/>
                </a:solidFill>
                <a:latin typeface="Arial"/>
                <a:ea typeface="Arial"/>
                <a:cs typeface="Arial"/>
              </a:rPr>
              <a:t>CONTACT QUALITY  →  EXPECTED PRODUCTION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59039C-F878-4E53-8BDA-999DCFE0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A6A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A6A0"/>
                </a:solidFill>
                <a:latin typeface="Arial"/>
                <a:ea typeface="Arial"/>
                <a:cs typeface="Arial"/>
              </a:rPr>
              <a:t>Andrew Lucas · CMU Data Science Capstone</a:t>
            </a:r>
          </a:p>
        </p:txBody>
      </p:sp>
    </p:spTree>
    <p:extLst>
      <p:ext uri="{BB962C8B-B14F-4D97-AF65-F5344CB8AC3E}">
        <p14:creationId xmlns:p14="http://schemas.microsoft.com/office/powerpoint/2010/main" val="86621854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9EAFEB-77AA-4069-9EA3-5F2752FA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E044F-2328-4BB9-8717-283133B5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B1627B58-21BD-423F-BBAF-9246DCEB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DB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DB827"/>
                </a:solidFill>
                <a:latin typeface="Arial"/>
                <a:ea typeface="Arial"/>
                <a:cs typeface="Arial"/>
              </a:rPr>
              <a:t>RESEARCH 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F57E9-7D67-4395-946B-64D1E8BC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76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1EA"/>
                </a:solidFill>
                <a:latin typeface="Arial"/>
                <a:ea typeface="Arial"/>
                <a:cs typeface="Arial"/>
              </a:rPr>
              <a:t>Which underlying skills best explain season-long offensive success?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DBDE2-E1DE-48AF-88F0-7BEFF5F0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0970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A6A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A6A0"/>
                </a:solidFill>
                <a:latin typeface="Arial"/>
                <a:ea typeface="Arial"/>
                <a:cs typeface="Arial"/>
              </a:rPr>
              <a:t>253,062 pitches · ACC 2026 regular season · TrackMan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4121DD-EAA0-4736-98C9-52BB97EB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42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A6A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A6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94CA65-056D-4C80-85BE-2A5362CC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5238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1EA"/>
                </a:solidFill>
                <a:latin typeface="Arial"/>
                <a:ea typeface="Arial"/>
                <a:cs typeface="Arial"/>
              </a:rPr>
              <a:t>Can process explain</a:t>
            </a:r>
          </a:p>
          <a:p xmlns:a="http://schemas.openxmlformats.org/drawingml/2006/main">
            <a:pPr algn="l">
              <a:defRPr sz="2700" b="1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1EA"/>
                </a:solidFill>
                <a:latin typeface="Arial"/>
                <a:ea typeface="Arial"/>
                <a:cs typeface="Arial"/>
              </a:rPr>
              <a:t>what OPS alone cannot?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9B2014-95D8-4E49-88A4-944BA439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19450"/>
            <a:ext cx="485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A6A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A6A0"/>
                </a:solidFill>
                <a:latin typeface="Arial"/>
                <a:ea typeface="Arial"/>
                <a:cs typeface="Arial"/>
              </a:rPr>
              <a:t>Separate contact quality from plate discipline, then combine both into expected OPS.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214DF-F675-4EF4-89EA-6BF560CA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466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DB82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DB827"/>
                </a:solidFill>
                <a:latin typeface="Arial"/>
                <a:ea typeface="Arial"/>
                <a:cs typeface="Arial"/>
              </a:rPr>
              <a:t>ANALYTICAL FRAME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21319D-ACFB-47F6-84EC-59F56875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43150"/>
            <a:ext cx="4667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70602E-0CDA-4686-929E-C9C36DAD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14600"/>
            <a:ext cx="40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DB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DB82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17B5C7-8FCC-4C36-9ACA-94E6AF27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F1EA"/>
                </a:solidFill>
                <a:latin typeface="Arial"/>
                <a:ea typeface="Arial"/>
                <a:cs typeface="Arial"/>
              </a:rPr>
              <a:t>CONTACT QUALITY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2538D8-0564-483F-8816-AE438EA1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241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A6A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A6A0"/>
                </a:solidFill>
                <a:latin typeface="Arial"/>
                <a:ea typeface="Arial"/>
                <a:cs typeface="Arial"/>
              </a:rPr>
              <a:t>EV · launch angle · direction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FB6D64-52AF-40CD-873E-7ADDFE5E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09950"/>
            <a:ext cx="4667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760FAE-8606-43A3-B4FE-28CF7F86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81400"/>
            <a:ext cx="40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DB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DB82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3F8A6E-2543-4EDE-A5F4-9C406BDC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242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F1EA"/>
                </a:solidFill>
                <a:latin typeface="Arial"/>
                <a:ea typeface="Arial"/>
                <a:cs typeface="Arial"/>
              </a:rPr>
              <a:t>PLATE DISCIPLINE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69E47F-950F-47B0-90E1-40F14DA8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909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A6A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A6A0"/>
                </a:solidFill>
                <a:latin typeface="Arial"/>
                <a:ea typeface="Arial"/>
                <a:cs typeface="Arial"/>
              </a:rPr>
              <a:t>count · location · pitch type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966C65-2845-42EE-9625-3D430723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76750"/>
            <a:ext cx="4667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4B749A-493E-4D87-972B-4327396F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48200"/>
            <a:ext cx="40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0B0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0B0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C4C21C-6F79-40A5-9910-BA61D6D6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910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0B0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0B0C"/>
                </a:solidFill>
                <a:latin typeface="Arial"/>
                <a:ea typeface="Arial"/>
                <a:cs typeface="Arial"/>
              </a:rPr>
              <a:t>EXPECTED OPS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19E9CC-FBFE-46EF-91E0-F2D844FA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577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0B0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0B0C"/>
                </a:solidFill>
                <a:latin typeface="Arial"/>
                <a:ea typeface="Arial"/>
                <a:cs typeface="Arial"/>
              </a:rPr>
              <a:t>player-level offensive profile</a:t>
            </a:r>
          </a:p>
        </p:txBody>
      </p:sp>
    </p:spTree>
    <p:extLst>
      <p:ext uri="{BB962C8B-B14F-4D97-AF65-F5344CB8AC3E}">
        <p14:creationId xmlns:p14="http://schemas.microsoft.com/office/powerpoint/2010/main" val="6078941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32011F-B7C3-4B72-BF95-F95313A0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010E7-EC7D-492E-936E-AA17DAB5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80A460B7-18E5-4C19-9273-6866E335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DB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DB827"/>
                </a:solidFill>
                <a:latin typeface="Arial"/>
                <a:ea typeface="Arial"/>
                <a:cs typeface="Arial"/>
              </a:rPr>
              <a:t>SUCCESSFUL CONTACT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6BCE31-E2B7-43F0-843D-6857C184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76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1EA"/>
                </a:solidFill>
                <a:latin typeface="Arial"/>
                <a:ea typeface="Arial"/>
                <a:cs typeface="Arial"/>
              </a:rPr>
              <a:t>Hard contact at favorable launch angles produces the best outcomes.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A198B-63BF-4007-BF3E-7D1161B8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0970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A6A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A6A0"/>
                </a:solidFill>
                <a:latin typeface="Arial"/>
                <a:ea typeface="Arial"/>
                <a:cs typeface="Arial"/>
              </a:rPr>
              <a:t>Exit velocity vs SLG: r = .456  ·  Launch angle vs SLG: r = .370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B8F1A-ED92-46D5-B167-07F072FA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42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A6A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A6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2CA3BE-AC65-4A9E-84CB-18260841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108710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12d2ab51bf4d5a"/>
          <a:stretch xmlns:a="http://schemas.openxmlformats.org/drawingml/2006/main"/>
        </p:blipFill>
        <p:spPr>
          <a:xfrm xmlns:a="http://schemas.openxmlformats.org/drawingml/2006/main">
            <a:off x="2657550" y="1866900"/>
            <a:ext cx="6876901" cy="4248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8341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D68959-DC3C-4329-85C5-05D53D9C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C4632-35EF-47D4-BED6-2744A0BF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8493B27B-B5B4-41A4-9458-38343306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DB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DB827"/>
                </a:solidFill>
                <a:latin typeface="Arial"/>
                <a:ea typeface="Arial"/>
                <a:cs typeface="Arial"/>
              </a:rPr>
              <a:t>PITCH LOCATION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4FDA1-5C40-4675-ACCD-BE0D7B6A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76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1EA"/>
                </a:solidFill>
                <a:latin typeface="Arial"/>
                <a:ea typeface="Arial"/>
                <a:cs typeface="Arial"/>
              </a:rPr>
              <a:t>Heart-of-zone pitches generated the most damage.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E68250-684E-4C58-94D2-25E59750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0970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A6A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A6A0"/>
                </a:solidFill>
                <a:latin typeface="Arial"/>
                <a:ea typeface="Arial"/>
                <a:cs typeface="Arial"/>
              </a:rPr>
              <a:t>Middle-middle SLG: .836 vs changeups  ·  .797 vs breaking balls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6A332-4167-4D97-A41E-C4BE2C87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42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A6A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A6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6D1886-059F-4375-9423-103E73ED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90700"/>
            <a:ext cx="1021080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8efa65b46e482f"/>
          <a:stretch xmlns:a="http://schemas.openxmlformats.org/drawingml/2006/main"/>
        </p:blipFill>
        <p:spPr>
          <a:xfrm xmlns:a="http://schemas.openxmlformats.org/drawingml/2006/main">
            <a:off x="3631406" y="1847850"/>
            <a:ext cx="4929188" cy="39433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C24462-516D-44C3-BD2F-92F28B7B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05500"/>
            <a:ext cx="10210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DB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DB827"/>
                </a:solidFill>
                <a:latin typeface="Arial"/>
                <a:ea typeface="Arial"/>
                <a:cs typeface="Arial"/>
              </a:rPr>
              <a:t>Pitches executed down and toward either lower corner were associated with lower offensive production.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3778D7-34F0-4CB6-8E04-FA044E5D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191250"/>
            <a:ext cx="1021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9A6A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A6A0"/>
                </a:solidFill>
                <a:latin typeface="Arial"/>
                <a:ea typeface="Arial"/>
                <a:cs typeface="Arial"/>
              </a:rPr>
              <a:t>Locations use a fixed catcher-view orientation; handedness-specific splits are a future refinement.</a:t>
            </a:r>
          </a:p>
        </p:txBody>
      </p:sp>
    </p:spTree>
    <p:extLst>
      <p:ext uri="{BB962C8B-B14F-4D97-AF65-F5344CB8AC3E}">
        <p14:creationId xmlns:p14="http://schemas.microsoft.com/office/powerpoint/2010/main" val="11519179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9E379D-86F0-4091-9505-D2085975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07C04-DD4E-419B-848A-5E771932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41349109-6C5D-4B18-BF12-44A63C9A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DB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DB827"/>
                </a:solidFill>
                <a:latin typeface="Arial"/>
                <a:ea typeface="Arial"/>
                <a:cs typeface="Arial"/>
              </a:rPr>
              <a:t>BUILDING XOPS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655312-3C72-4D08-A854-5870A941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76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1EA"/>
                </a:solidFill>
                <a:latin typeface="Arial"/>
                <a:ea typeface="Arial"/>
                <a:cs typeface="Arial"/>
              </a:rPr>
              <a:t>Predict pitch outcomes first; interpret underlying skill at the player level.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BB1A8E-E444-44A5-8E9D-685CBC08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0970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A6A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A6A0"/>
                </a:solidFill>
                <a:latin typeface="Arial"/>
                <a:ea typeface="Arial"/>
                <a:cs typeface="Arial"/>
              </a:rPr>
              <a:t>Two Random Forest models · 20% holdout test 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BB99F0-DA47-44A4-9BC0-FC9FCCAC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42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A6A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A6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8DDC8E-2DFB-4D61-9505-FA0B185B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14625"/>
            <a:ext cx="2190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9525">
            <a:solidFill>
              <a:srgbClr val="34343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6F8971-C8C7-46EB-AF3C-DEC67FC0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DB82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DB827"/>
                </a:solidFill>
                <a:latin typeface="Arial"/>
                <a:ea typeface="Arial"/>
                <a:cs typeface="Arial"/>
              </a:rPr>
              <a:t>INPUTS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B66D3B-96CD-4E99-A728-CA4C43A2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1EA"/>
                </a:solidFill>
                <a:latin typeface="Arial"/>
                <a:ea typeface="Arial"/>
                <a:cs typeface="Arial"/>
              </a:rPr>
              <a:t>TRACKMAN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931612-C60B-4F24-81F0-D833EA7C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4004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8B04FC-16E9-4EC5-8B2A-0CE793D9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670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B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1B6108-788E-494E-9652-B7E371F4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14625"/>
            <a:ext cx="2190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9525">
            <a:solidFill>
              <a:srgbClr val="34343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852B5A-8977-415F-95EA-F60516EE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718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DB82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DB827"/>
                </a:solidFill>
                <a:latin typeface="Arial"/>
                <a:ea typeface="Arial"/>
                <a:cs typeface="Arial"/>
              </a:rPr>
              <a:t>XBA + XSLG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424ACF-F3ED-4BD9-97A1-FF421E7A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337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1EA"/>
                </a:solidFill>
                <a:latin typeface="Arial"/>
                <a:ea typeface="Arial"/>
                <a:cs typeface="Arial"/>
              </a:rPr>
              <a:t>CONTACT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CA2B7D-FC96-4A9B-9A26-1D61835D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004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E5DDBA-C3D7-40A8-AE0D-C891ED20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3670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B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D10434-3738-421C-88E7-F0A3190B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714625"/>
            <a:ext cx="2190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9525">
            <a:solidFill>
              <a:srgbClr val="34343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18E46F-2517-406B-BABA-0181A56D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718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DB82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DB827"/>
                </a:solidFill>
                <a:latin typeface="Arial"/>
                <a:ea typeface="Arial"/>
                <a:cs typeface="Arial"/>
              </a:rPr>
              <a:t>XBB + XK + XHBP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106C83-3611-402E-88FC-A43B9F7E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337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1EA"/>
                </a:solidFill>
                <a:latin typeface="Arial"/>
                <a:ea typeface="Arial"/>
                <a:cs typeface="Arial"/>
              </a:rPr>
              <a:t>DISCIPLINE MODEL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D837BB-9C6F-4E07-9636-4AD4509D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004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F66887-9C62-4CA4-81C5-7D43109C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3670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B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696D76-184D-4A10-A437-D97B240B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14625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827"/>
          </a:solidFill>
          <a:ln xmlns:a="http://schemas.openxmlformats.org/drawingml/2006/main" w="9525">
            <a:solidFill>
              <a:srgbClr val="FDB82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457331-B4BA-4A15-9F4B-3877CCD1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718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4F1EA"/>
                </a:solidFill>
                <a:latin typeface="Arial"/>
                <a:ea typeface="Arial"/>
                <a:cs typeface="Arial"/>
              </a:rPr>
              <a:t>EXPECTED OUTCOME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E4ACD3-2AAE-454C-B4C4-346C0A73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3375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1EA"/>
                </a:solidFill>
                <a:latin typeface="Arial"/>
                <a:ea typeface="Arial"/>
                <a:cs typeface="Arial"/>
              </a:rPr>
              <a:t>xOPS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55FB63-6E0C-45B0-8C3F-D50C01AE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863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DB82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DB827"/>
                </a:solidFill>
                <a:latin typeface="Arial"/>
                <a:ea typeface="Arial"/>
                <a:cs typeface="Arial"/>
              </a:rPr>
              <a:t>CONTACT ACCURACY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A3674A-AAB6-4214-A3B8-78574EDA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53000"/>
            <a:ext cx="219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1EA"/>
                </a:solidFill>
                <a:latin typeface="Arial"/>
                <a:ea typeface="Arial"/>
                <a:cs typeface="Arial"/>
              </a:rPr>
              <a:t>76.8%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A0DDC3-53E8-455C-88C4-F62B643F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6863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DB82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DB827"/>
                </a:solidFill>
                <a:latin typeface="Arial"/>
                <a:ea typeface="Arial"/>
                <a:cs typeface="Arial"/>
              </a:rPr>
              <a:t>DISCIPLINE ACCURACY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1D9E50-0A32-4A5C-AED0-2D911CBF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953000"/>
            <a:ext cx="219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1EA"/>
                </a:solidFill>
                <a:latin typeface="Arial"/>
                <a:ea typeface="Arial"/>
                <a:cs typeface="Arial"/>
              </a:rPr>
              <a:t>82.4%</a:t>
            </a:r>
          </a:p>
        </p:txBody>
      </p:sp>
    </p:spTree>
    <p:extLst>
      <p:ext uri="{BB962C8B-B14F-4D97-AF65-F5344CB8AC3E}">
        <p14:creationId xmlns:p14="http://schemas.microsoft.com/office/powerpoint/2010/main" val="28839452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57766A-BDA3-414A-97BE-00C080C0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49515-76BB-4A60-A2A3-EAF5E77D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477076F9-D0A6-4D25-8EE8-34ABE0DC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DB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DB827"/>
                </a:solidFill>
                <a:latin typeface="Arial"/>
                <a:ea typeface="Arial"/>
                <a:cs typeface="Arial"/>
              </a:rPr>
              <a:t>TWO MODELS, TWO QUESTIONS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2C315-F22C-4ECF-BA6F-5214BE11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76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1EA"/>
                </a:solidFill>
                <a:latin typeface="Arial"/>
                <a:ea typeface="Arial"/>
                <a:cs typeface="Arial"/>
              </a:rPr>
              <a:t>What drives contact value? What drives plate-discipline outcomes?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F50BC-5F41-42D3-9A92-A947982E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0970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A6A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A6A0"/>
                </a:solidFill>
                <a:latin typeface="Arial"/>
                <a:ea typeface="Arial"/>
                <a:cs typeface="Arial"/>
              </a:rPr>
              <a:t>Random Forest variable importance · accuracy and Gini views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9F063E-2414-4F81-81FE-35EB42E8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42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A6A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A6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F2FEB-3955-4108-8ADF-14DB5170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09750"/>
            <a:ext cx="552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DB82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DB827"/>
                </a:solidFill>
                <a:latin typeface="Arial"/>
                <a:ea typeface="Arial"/>
                <a:cs typeface="Arial"/>
              </a:rPr>
              <a:t>MODEL 1 · CONTACT VALUE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7EED7D-7062-42AC-8FDA-B727FA15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552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DB82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DB827"/>
                </a:solidFill>
                <a:latin typeface="Arial"/>
                <a:ea typeface="Arial"/>
                <a:cs typeface="Arial"/>
              </a:rPr>
              <a:t>MODEL 2 · PLATE DISCIPLINE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241FDA-8A30-4C08-BA20-4A658B85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14550"/>
            <a:ext cx="55245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BA09F4-D2AB-4946-ADE3-8784EB6B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14550"/>
            <a:ext cx="55245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86c82f1bde4ce4"/>
          <a:stretch xmlns:a="http://schemas.openxmlformats.org/drawingml/2006/main"/>
        </p:blipFill>
        <p:spPr>
          <a:xfrm xmlns:a="http://schemas.openxmlformats.org/drawingml/2006/main">
            <a:off x="533400" y="2205310"/>
            <a:ext cx="5410200" cy="3342731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50b6e0874d481d"/>
          <a:stretch xmlns:a="http://schemas.openxmlformats.org/drawingml/2006/main"/>
        </p:blipFill>
        <p:spPr>
          <a:xfrm xmlns:a="http://schemas.openxmlformats.org/drawingml/2006/main">
            <a:off x="6248400" y="2205310"/>
            <a:ext cx="5410200" cy="3342731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2F7338-1E2A-49B5-BD34-008017FF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91200"/>
            <a:ext cx="552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F1EA"/>
                </a:solidFill>
                <a:latin typeface="Arial"/>
                <a:ea typeface="Arial"/>
                <a:cs typeface="Arial"/>
              </a:rPr>
              <a:t>Angle · exit speed · direction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E5C648-E3EE-497C-88EC-DA17D8D4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91200"/>
            <a:ext cx="552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F1EA"/>
                </a:solidFill>
                <a:latin typeface="Arial"/>
                <a:ea typeface="Arial"/>
                <a:cs typeface="Arial"/>
              </a:rPr>
              <a:t>Count · pitch location</a:t>
            </a:r>
          </a:p>
        </p:txBody>
      </p:sp>
    </p:spTree>
    <p:extLst>
      <p:ext uri="{BB962C8B-B14F-4D97-AF65-F5344CB8AC3E}">
        <p14:creationId xmlns:p14="http://schemas.microsoft.com/office/powerpoint/2010/main" val="173366640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AF8450-EEC3-42AE-8C1B-422477BE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967F9-11F2-426A-9E86-71D3EC3F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3B128DF2-4830-44C5-8175-1E46754D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DB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DB827"/>
                </a:solidFill>
                <a:latin typeface="Arial"/>
                <a:ea typeface="Arial"/>
                <a:cs typeface="Arial"/>
              </a:rPr>
              <a:t>DOES XOPS WORK?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66D80-8793-4B33-971B-DE7C201A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76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1EA"/>
                </a:solidFill>
                <a:latin typeface="Arial"/>
                <a:ea typeface="Arial"/>
                <a:cs typeface="Arial"/>
              </a:rPr>
              <a:t>Expected OPS closely tracks observed performance.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C7ED81-BF27-4206-8D25-1624B5EC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0970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A6A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A6A0"/>
                </a:solidFill>
                <a:latin typeface="Arial"/>
                <a:ea typeface="Arial"/>
                <a:cs typeface="Arial"/>
              </a:rPr>
              <a:t>r = .931  ·  p &lt; .001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30C062-98F4-4658-80DB-D97F6769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42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A6A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A6A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E9BCA-0AF8-4B1F-8ED1-52C36DB3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90700"/>
            <a:ext cx="1021080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ab581a0a774b90"/>
          <a:stretch xmlns:a="http://schemas.openxmlformats.org/drawingml/2006/main"/>
        </p:blipFill>
        <p:spPr>
          <a:xfrm xmlns:a="http://schemas.openxmlformats.org/drawingml/2006/main">
            <a:off x="2534861" y="1847850"/>
            <a:ext cx="7122277" cy="4400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62651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2E2AAB-05CC-41EC-9FD5-9943D2B7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4B1563-8206-4D3B-AE00-111F6790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03EB8ECB-A1DD-4AE7-8024-37427EAF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DB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DB827"/>
                </a:solidFill>
                <a:latin typeface="Arial"/>
                <a:ea typeface="Arial"/>
                <a:cs typeface="Arial"/>
              </a:rPr>
              <a:t>PLAYER APPLICATIONS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0AF751-8077-4F58-A3CF-78E58CA2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76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1EA"/>
                </a:solidFill>
                <a:latin typeface="Arial"/>
                <a:ea typeface="Arial"/>
                <a:cs typeface="Arial"/>
              </a:rPr>
              <a:t>OPS minus xOPS highlights candidates for improvement or regression.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BA9DD-E499-40BB-A938-40791152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0970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A6A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A6A0"/>
                </a:solidFill>
                <a:latin typeface="Arial"/>
                <a:ea typeface="Arial"/>
                <a:cs typeface="Arial"/>
              </a:rPr>
              <a:t>Largest player-level gaps · minimum sample varies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77A780-A9B7-4238-BAB9-AA05F5C0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42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A6A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A6A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E9081C-3FD1-4DB0-A6B2-44889D22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DB82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DB827"/>
                </a:solidFill>
                <a:latin typeface="Arial"/>
                <a:ea typeface="Arial"/>
                <a:cs typeface="Arial"/>
              </a:rPr>
              <a:t>UNDERPERFORMERS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34BD42-1759-4D93-BE61-9BE3781A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8595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DB82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DB827"/>
                </a:solidFill>
                <a:latin typeface="Arial"/>
                <a:ea typeface="Arial"/>
                <a:cs typeface="Arial"/>
              </a:rPr>
              <a:t>OVERPERFORMERS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D4EFC2-6C67-4B3B-A6DA-87E1F563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5295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C6C80-C4C9-4239-ABD1-6B98C362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A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9A6A0"/>
                </a:solidFill>
                <a:latin typeface="Arial"/>
                <a:ea typeface="Arial"/>
                <a:cs typeface="Arial"/>
              </a:rPr>
              <a:t>BATTER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E65D02-933D-41DE-B6DF-2D538681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09800"/>
            <a:ext cx="523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A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9A6A0"/>
                </a:solidFill>
                <a:latin typeface="Arial"/>
                <a:ea typeface="Arial"/>
                <a:cs typeface="Arial"/>
              </a:rPr>
              <a:t>PA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2A02D2-E0A6-4124-AABA-8D3F5726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09800"/>
            <a:ext cx="523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A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9A6A0"/>
                </a:solidFill>
                <a:latin typeface="Arial"/>
                <a:ea typeface="Arial"/>
                <a:cs typeface="Arial"/>
              </a:rPr>
              <a:t>OPS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13B24B-50EE-447D-BC54-743F2BD8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09800"/>
            <a:ext cx="619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A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9A6A0"/>
                </a:solidFill>
                <a:latin typeface="Arial"/>
                <a:ea typeface="Arial"/>
                <a:cs typeface="Arial"/>
              </a:rPr>
              <a:t>xOPS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AE9A28-287E-4CAB-B698-DCEB6D01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09800"/>
            <a:ext cx="628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A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9A6A0"/>
                </a:solidFill>
                <a:latin typeface="Arial"/>
                <a:ea typeface="Arial"/>
                <a:cs typeface="Arial"/>
              </a:rPr>
              <a:t>GAP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D2B10C-9A61-4BCB-AA4D-2A38C88E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AD76F6-364A-4A6B-9469-AC036745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2171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1EA"/>
                </a:solidFill>
                <a:latin typeface="Arial"/>
                <a:ea typeface="Arial"/>
                <a:cs typeface="Arial"/>
              </a:rPr>
              <a:t>Jimmy Keenan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AF3DCA-8030-452B-928D-E71A97D7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81300"/>
            <a:ext cx="523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119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793F5E-7D30-46A9-9D59-B0383062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81300"/>
            <a:ext cx="523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.852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71BC29-F50A-46EF-A935-66A236E1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619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1.056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74F947-F10E-498C-91D8-C7FC2892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81300"/>
            <a:ext cx="628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DB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DB827"/>
                </a:solidFill>
                <a:latin typeface="Arial"/>
                <a:ea typeface="Arial"/>
                <a:cs typeface="Arial"/>
              </a:rPr>
              <a:t>−.204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142589-4B03-4552-BDCF-C789F0F9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575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6C29E1-0235-4D00-B41C-8A2A6E4E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2171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1EA"/>
                </a:solidFill>
                <a:latin typeface="Arial"/>
                <a:ea typeface="Arial"/>
                <a:cs typeface="Arial"/>
              </a:rPr>
              <a:t>Danny Surowiec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666E89-E578-4D33-A5B9-96E7862E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33750"/>
            <a:ext cx="523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118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E2EA04-EA88-4821-914C-3E46A214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33750"/>
            <a:ext cx="523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.616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F93840-92E6-4AB4-870C-926A1E03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33750"/>
            <a:ext cx="619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.820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2721C8-2E3C-4834-AE3D-C2532F2C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33750"/>
            <a:ext cx="628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DB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DB827"/>
                </a:solidFill>
                <a:latin typeface="Arial"/>
                <a:ea typeface="Arial"/>
                <a:cs typeface="Arial"/>
              </a:rPr>
              <a:t>−.203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850032-1B66-401A-8FF0-DC56FE9B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76ACEF-781D-4B95-BBA5-762BDCEB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171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1EA"/>
                </a:solidFill>
                <a:latin typeface="Arial"/>
                <a:ea typeface="Arial"/>
                <a:cs typeface="Arial"/>
              </a:rPr>
              <a:t>Ty Dalley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2CBF07-7AD8-48C1-A74E-C92236CE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886200"/>
            <a:ext cx="523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116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44C9D1-C95D-4ABB-8A8A-0B42A305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86200"/>
            <a:ext cx="523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.561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B6EB70-27CF-4B49-AF15-16F516E9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86200"/>
            <a:ext cx="619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.713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170F52-DDA0-457B-9A23-9AE88FC4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886200"/>
            <a:ext cx="628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DB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DB827"/>
                </a:solidFill>
                <a:latin typeface="Arial"/>
                <a:ea typeface="Arial"/>
                <a:cs typeface="Arial"/>
              </a:rPr>
              <a:t>−.151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922D3C-0F17-435A-A79A-0DD68585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624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47CC91-2CB6-49DF-AA85-0995FEBD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2171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Ben Williams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AC5670-02D7-497C-88EA-1D3E623C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38650"/>
            <a:ext cx="523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64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AEC86B-AA3B-4ACB-BF00-8C226897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38650"/>
            <a:ext cx="523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.533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B564E4-7C16-490B-B06B-691D3B40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38650"/>
            <a:ext cx="619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.683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6AACF9-824F-4AA7-8D8C-E724092B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38650"/>
            <a:ext cx="628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DB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DB827"/>
                </a:solidFill>
                <a:latin typeface="Arial"/>
                <a:ea typeface="Arial"/>
                <a:cs typeface="Arial"/>
              </a:rPr>
              <a:t>−.150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982FD7-F97B-4031-BEC6-4571CFEE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1490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57EBD7-316E-48D8-8BEB-552C60E2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91100"/>
            <a:ext cx="2171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Zach Jackson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4D31E7-C6B3-4526-B5BF-34DFA28E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991100"/>
            <a:ext cx="523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170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6C52D07-3E9A-4F93-8FC5-84DD472C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91100"/>
            <a:ext cx="523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.802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8BB26E-0719-4B9D-9A10-1644A69E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91100"/>
            <a:ext cx="619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.937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9834E0-81B1-4BBB-A8C0-40581F09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991100"/>
            <a:ext cx="628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DB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DB827"/>
                </a:solidFill>
                <a:latin typeface="Arial"/>
                <a:ea typeface="Arial"/>
                <a:cs typeface="Arial"/>
              </a:rPr>
              <a:t>−.135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F3001E0-ABB3-4F57-89A5-4F6271C3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09800"/>
            <a:ext cx="5295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AED5C7C-E723-467C-A3F6-8EA0E561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0980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A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9A6A0"/>
                </a:solidFill>
                <a:latin typeface="Arial"/>
                <a:ea typeface="Arial"/>
                <a:cs typeface="Arial"/>
              </a:rPr>
              <a:t>BATTER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BB8091-ECED-4A09-A50D-EEFA55B7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09800"/>
            <a:ext cx="523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A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9A6A0"/>
                </a:solidFill>
                <a:latin typeface="Arial"/>
                <a:ea typeface="Arial"/>
                <a:cs typeface="Arial"/>
              </a:rPr>
              <a:t>PA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77EDFAE-2AEA-411B-AFDC-F2AF6801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09800"/>
            <a:ext cx="523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A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9A6A0"/>
                </a:solidFill>
                <a:latin typeface="Arial"/>
                <a:ea typeface="Arial"/>
                <a:cs typeface="Arial"/>
              </a:rPr>
              <a:t>OPS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BAA7779-D049-4E16-9DFB-34D17601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09800"/>
            <a:ext cx="619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A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9A6A0"/>
                </a:solidFill>
                <a:latin typeface="Arial"/>
                <a:ea typeface="Arial"/>
                <a:cs typeface="Arial"/>
              </a:rPr>
              <a:t>xOPS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FF386F5-319F-47F7-9422-6EF38FCA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209800"/>
            <a:ext cx="628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A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9A6A0"/>
                </a:solidFill>
                <a:latin typeface="Arial"/>
                <a:ea typeface="Arial"/>
                <a:cs typeface="Arial"/>
              </a:rPr>
              <a:t>GAP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1D1C417-EF80-48CD-87DB-1CEBCB06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0510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C1607E1-32CA-45CB-B743-33700537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81300"/>
            <a:ext cx="2171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1EA"/>
                </a:solidFill>
                <a:latin typeface="Arial"/>
                <a:ea typeface="Arial"/>
                <a:cs typeface="Arial"/>
              </a:rPr>
              <a:t>Willie Hurt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60FDE57-DAD0-414A-867B-A8B601AD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523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58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202DF89-ACC0-4ED5-8D32-59C19968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81300"/>
            <a:ext cx="523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1.125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4B1EEAB-6B80-480A-B015-276D0C35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81300"/>
            <a:ext cx="619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.938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B1E1F05-67CA-4A43-AE1B-2A0A8412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781300"/>
            <a:ext cx="628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DB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DB827"/>
                </a:solidFill>
                <a:latin typeface="Arial"/>
                <a:ea typeface="Arial"/>
                <a:cs typeface="Arial"/>
              </a:rPr>
              <a:t>+.187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4D7610C-2ED8-456F-AE96-3982F172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575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085F345-4697-4A5B-8531-BE19D4D4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33750"/>
            <a:ext cx="2171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1EA"/>
                </a:solidFill>
                <a:latin typeface="Arial"/>
                <a:ea typeface="Arial"/>
                <a:cs typeface="Arial"/>
              </a:rPr>
              <a:t>Brock Sell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95D1E5A-FF02-4443-9E7F-71EE586F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523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85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760D533-3633-4055-AB89-4341CC87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0"/>
            <a:ext cx="523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.932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8909F73-2B18-4717-B8E8-A09CA71F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33750"/>
            <a:ext cx="619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.788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AE040B5-DC28-4756-AC55-2DCF9641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33750"/>
            <a:ext cx="628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DB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DB827"/>
                </a:solidFill>
                <a:latin typeface="Arial"/>
                <a:ea typeface="Arial"/>
                <a:cs typeface="Arial"/>
              </a:rPr>
              <a:t>+.144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9AEF011-7C2F-40E7-8574-20A0E7CC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000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921132B-3E48-4B8E-B510-EB03A026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86200"/>
            <a:ext cx="2171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1EA"/>
                </a:solidFill>
                <a:latin typeface="Arial"/>
                <a:ea typeface="Arial"/>
                <a:cs typeface="Arial"/>
              </a:rPr>
              <a:t>Cort MacDonald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52CC8B3-6859-4A1C-BBEA-C4B06FAA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86200"/>
            <a:ext cx="523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142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C43FC49-2429-467A-A8D7-C62C543F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86200"/>
            <a:ext cx="523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.954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F1E9DF6-7124-4458-8882-BCAE06D8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86200"/>
            <a:ext cx="619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.828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FF18901-60EF-41C5-B0F3-0962EFBC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886200"/>
            <a:ext cx="628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DB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DB827"/>
                </a:solidFill>
                <a:latin typeface="Arial"/>
                <a:ea typeface="Arial"/>
                <a:cs typeface="Arial"/>
              </a:rPr>
              <a:t>+.127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FD487D0-F37F-4DA8-87E5-E67D7EDE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624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44C024E-AB58-4A69-8EBE-4F14C872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38650"/>
            <a:ext cx="2171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Jarren Advincula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BD69696-2ED2-483D-89AA-34447C29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38650"/>
            <a:ext cx="523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231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B5A1749-6E14-4F10-861A-91B96095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38650"/>
            <a:ext cx="523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1.097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04DA5A0-3D84-4818-9D6A-F69110ED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38650"/>
            <a:ext cx="619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.979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E888709-46FB-402F-ACD2-EB2E07A3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438650"/>
            <a:ext cx="628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DB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DB827"/>
                </a:solidFill>
                <a:latin typeface="Arial"/>
                <a:ea typeface="Arial"/>
                <a:cs typeface="Arial"/>
              </a:rPr>
              <a:t>+.118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C6072B2-4AE0-4CD0-8676-A9893639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1490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BC73560-07C9-49DA-8BCD-1208B19E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91100"/>
            <a:ext cx="2171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Jacob French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E57E5D9-12B0-43D9-B6DA-FC5BF3C5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91100"/>
            <a:ext cx="523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121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2DF48FD-D6F6-492A-A5FF-2B8DC0BF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91100"/>
            <a:ext cx="523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1.023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6846512-2A20-4A3E-BE0D-E8203515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91100"/>
            <a:ext cx="619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.917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5B70422-3ADF-4675-A6B6-A013F10B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991100"/>
            <a:ext cx="628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DB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DB827"/>
                </a:solidFill>
                <a:latin typeface="Arial"/>
                <a:ea typeface="Arial"/>
                <a:cs typeface="Arial"/>
              </a:rPr>
              <a:t>+.106</a:t>
            </a:r>
          </a:p>
        </p:txBody>
      </p:sp>
    </p:spTree>
    <p:extLst>
      <p:ext uri="{BB962C8B-B14F-4D97-AF65-F5344CB8AC3E}">
        <p14:creationId xmlns:p14="http://schemas.microsoft.com/office/powerpoint/2010/main" val="66608716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EE0BBB-840B-4234-8FFE-DB3BE8A9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87A8D-44A3-492C-9967-781C3268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CC3C2670-EB2F-4020-BF6B-F20058E6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DB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DB827"/>
                </a:solidFill>
                <a:latin typeface="Arial"/>
                <a:ea typeface="Arial"/>
                <a:cs typeface="Arial"/>
              </a:rPr>
              <a:t>CONCLUSIONS &amp; LIMITATIONS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DE9D4-3C70-4439-B837-F77B01CC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76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1EA"/>
                </a:solidFill>
                <a:latin typeface="Arial"/>
                <a:ea typeface="Arial"/>
                <a:cs typeface="Arial"/>
              </a:rPr>
              <a:t>xOPS reveals underlying skill and helps identify potential diamonds in the rough.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112EF9-9ACA-43FD-AD09-23C10CC2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42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A6A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A6A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E7333-1AAE-46E7-8729-3BAE6AC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DB82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DB827"/>
                </a:solidFill>
                <a:latin typeface="Arial"/>
                <a:ea typeface="Arial"/>
                <a:cs typeface="Arial"/>
              </a:rPr>
              <a:t>CONCLUSIONS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5F449C-AD17-4662-A7FE-D690FD15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F1EA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C3B891-1C99-44F6-AAB2-DFC97DBA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209800"/>
            <a:ext cx="3333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A6A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A6A0"/>
                </a:solidFill>
                <a:latin typeface="Arial"/>
                <a:ea typeface="Arial"/>
                <a:cs typeface="Arial"/>
              </a:rPr>
              <a:t>Launch angle, exit velocity, and spray direction drive contact value.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36B222-78B6-41E1-A662-58DCF2A9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B5A5B1-3A19-47A3-8B3B-594BD024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861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F1EA"/>
                </a:solidFill>
                <a:latin typeface="Arial"/>
                <a:ea typeface="Arial"/>
                <a:cs typeface="Arial"/>
              </a:rPr>
              <a:t>DISCIPLINE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EB3FF0-7A70-452C-8E6C-11691FD0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086100"/>
            <a:ext cx="3333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A6A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A6A0"/>
                </a:solidFill>
                <a:latin typeface="Arial"/>
                <a:ea typeface="Arial"/>
                <a:cs typeface="Arial"/>
              </a:rPr>
              <a:t>Count and pitch location shape plate-discipline outcomes.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4FCD35-45CC-4549-8116-97FA079D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A52887-727F-4E0D-92FA-1AD59636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624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F1EA"/>
                </a:solidFill>
                <a:latin typeface="Arial"/>
                <a:ea typeface="Arial"/>
                <a:cs typeface="Arial"/>
              </a:rPr>
              <a:t>xOPS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C25688-29CA-4ECB-A563-63B2B349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62400"/>
            <a:ext cx="3333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A6A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A6A0"/>
                </a:solidFill>
                <a:latin typeface="Arial"/>
                <a:ea typeface="Arial"/>
                <a:cs typeface="Arial"/>
              </a:rPr>
              <a:t>The OPS–xOPS gap flags players whose results may not match their process.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E39D37-358E-4BD2-9583-1B5EC8CB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101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F67A8F-0F90-4C81-BF58-C2B185FD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DB82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DB827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4F2C55-E56A-4052-B2E8-F9DF2B8B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0980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1EA"/>
                </a:solidFill>
                <a:latin typeface="Arial"/>
                <a:ea typeface="Arial"/>
                <a:cs typeface="Arial"/>
              </a:rPr>
              <a:t>COVERAGE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5F722C-5481-4C4B-86D8-E29BE35A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09800"/>
            <a:ext cx="3524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A6A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A6A0"/>
                </a:solidFill>
                <a:latin typeface="Arial"/>
                <a:ea typeface="Arial"/>
                <a:cs typeface="Arial"/>
              </a:rPr>
              <a:t>Not every ACC venue or game had TrackMan data.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2F8918-5F15-4657-B31E-93787DB8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F5617F-673C-4078-BA29-F3B94BB9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1EA"/>
                </a:solidFill>
                <a:latin typeface="Arial"/>
                <a:ea typeface="Arial"/>
                <a:cs typeface="Arial"/>
              </a:rPr>
              <a:t>MISSING 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1EB127-E20E-4E03-A93E-0746B19C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52750"/>
            <a:ext cx="3524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A6A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A6A0"/>
                </a:solidFill>
                <a:latin typeface="Arial"/>
                <a:ea typeface="Arial"/>
                <a:cs typeface="Arial"/>
              </a:rPr>
              <a:t>Incomplete pitch tags were excluded from portions of the analysis.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08C3DE-4503-4054-A69A-656CAE8A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052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A979C5-8F4F-44CB-88CD-FABDAB04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1EA"/>
                </a:solidFill>
                <a:latin typeface="Arial"/>
                <a:ea typeface="Arial"/>
                <a:cs typeface="Arial"/>
              </a:rPr>
              <a:t>GAME STATE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1349D0-6C3A-4331-8FB6-531AEB59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95700"/>
            <a:ext cx="3524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A6A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A6A0"/>
                </a:solidFill>
                <a:latin typeface="Arial"/>
                <a:ea typeface="Arial"/>
                <a:cs typeface="Arial"/>
              </a:rPr>
              <a:t>Baserunner context was unavailable, limiting sacrifice-fly modeling.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62D1E3-0EB0-417D-BF4F-36BBC3C7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481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C3FD0B-B02E-463A-B783-76C9EF33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386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1EA"/>
                </a:solidFill>
                <a:latin typeface="Arial"/>
                <a:ea typeface="Arial"/>
                <a:cs typeface="Arial"/>
              </a:rPr>
              <a:t>DEFENSE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554B1F-ADFC-49B5-864B-AC5FC40A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38650"/>
            <a:ext cx="3524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A6A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A6A0"/>
                </a:solidFill>
                <a:latin typeface="Arial"/>
                <a:ea typeface="Arial"/>
                <a:cs typeface="Arial"/>
              </a:rPr>
              <a:t>No fielder-positioning data were available to estimate hit probability.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89B3D8-FC37-4F9C-898A-2A259B09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911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CF137B-3F41-4F59-822F-F57F1034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00700"/>
            <a:ext cx="10553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03D4F6-CF12-4C62-B9FB-E65A877C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007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0B0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0B0C"/>
                </a:solidFill>
                <a:latin typeface="Arial"/>
                <a:ea typeface="Arial"/>
                <a:cs typeface="Arial"/>
              </a:rPr>
              <a:t>NEXT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08291B-1884-4162-B968-298D0DF5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00700"/>
            <a:ext cx="8477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0B0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0B0C"/>
                </a:solidFill>
                <a:latin typeface="Arial"/>
                <a:ea typeface="Arial"/>
                <a:cs typeface="Arial"/>
              </a:rPr>
              <a:t>Add ballpark effects, opponent quality, defensive positioning, and year-to-year validation.</a:t>
            </a:r>
          </a:p>
        </p:txBody>
      </p:sp>
    </p:spTree>
    <p:extLst>
      <p:ext uri="{BB962C8B-B14F-4D97-AF65-F5344CB8AC3E}">
        <p14:creationId xmlns:p14="http://schemas.microsoft.com/office/powerpoint/2010/main" val="6735299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2026-06-16T22:21:01.4880000Z</dcterms:created>
  <dcterms:modified xsi:type="dcterms:W3CDTF">2026-06-16T22:21:01.4880000Z</dcterms:modified>
</coreProperties>
</file>